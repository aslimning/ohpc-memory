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EDF3"/>
                </a:solidFill>
              </a:rPr>
              <a:t>鸿蒙 PC 主流开发场景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6EDF3"/>
                </a:solidFill>
              </a:rPr>
              <a:t>Top8 全面验证基准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HarmonyOS PC · HongMeng Kernel 1.13 · aarch64/musl · 2026-09-28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评测框架：完备度 → 问题定位 → 性能与易用性 · 全部结论来自项目级真实测试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</a:rPr>
              <a:t>方法：19 项场景全集 → Top8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70000"/>
              </a:lnSpc>
              <a:buSzPct val="100000"/>
              <a:buChar char="▪"/>
            </a:pPr>
            <a:r>
              <a:rPr lang="en-US" sz="1800" dirty="0">
                <a:solidFill>
                  <a:srgbClr val="E6EDF3"/>
                </a:solidFill>
              </a:rPr>
              <a:t>全集按「静态/非静态 × 前端/后端」矩阵分 5 组 19 项</a:t>
            </a:r>
            <a:endParaRPr lang="en-US" sz="1800" dirty="0"/>
          </a:p>
          <a:p>
            <a:pPr marL="342900" indent="-342900">
              <a:lnSpc>
                <a:spcPct val="170000"/>
              </a:lnSpc>
              <a:buSzPct val="100000"/>
              <a:buChar char="▪"/>
            </a:pPr>
            <a:r>
              <a:rPr lang="en-US" sz="1800" dirty="0">
                <a:solidFill>
                  <a:srgbClr val="E6EDF3"/>
                </a:solidFill>
              </a:rPr>
              <a:t>选取准则：矩阵全覆盖 · 本机可端到端实测 · 主流高频 · 鸿蒙优先</a:t>
            </a:r>
            <a:endParaRPr lang="en-US" sz="1800" dirty="0"/>
          </a:p>
          <a:p>
            <a:pPr marL="342900" indent="-342900">
              <a:lnSpc>
                <a:spcPct val="170000"/>
              </a:lnSpc>
              <a:buSzPct val="100000"/>
              <a:buChar char="▪"/>
            </a:pPr>
            <a:r>
              <a:rPr lang="en-US" sz="1800" dirty="0">
                <a:solidFill>
                  <a:srgbClr val="E6EDF3"/>
                </a:solidFill>
              </a:rPr>
              <a:t>Git 不单列——作为公共环节贯穿每场景；Redis/SQLite 内嵌为数据层断言</a:t>
            </a:r>
            <a:endParaRPr lang="en-US" sz="1800" dirty="0"/>
          </a:p>
          <a:p>
            <a:pPr marL="342900" indent="-342900">
              <a:lnSpc>
                <a:spcPct val="170000"/>
              </a:lnSpc>
              <a:buSzPct val="100000"/>
              <a:buChar char="▪"/>
            </a:pPr>
            <a:r>
              <a:rPr lang="en-US" sz="1800" dirty="0">
                <a:solidFill>
                  <a:srgbClr val="E6EDF3"/>
                </a:solidFill>
              </a:rPr>
              <a:t>每个场景 = 真实工程：依赖安装 → 构建 → 运行 → 可复核产物</a:t>
            </a:r>
            <a:endParaRPr lang="en-US" sz="1800" dirty="0"/>
          </a:p>
          <a:p>
            <a:pPr marL="342900" indent="-342900">
              <a:lnSpc>
                <a:spcPct val="170000"/>
              </a:lnSpc>
              <a:buSzPct val="100000"/>
              <a:buChar char="▪"/>
            </a:pPr>
            <a:r>
              <a:rPr lang="en-US" sz="1800" dirty="0">
                <a:solidFill>
                  <a:srgbClr val="E6EDF3"/>
                </a:solidFill>
              </a:rPr>
              <a:t>教训：Java 曾被"嗅探"误判为不可用，HarmonyBrew 补装后真实项目复测翻绿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</a:rPr>
              <a:t>结果总览：7 / 8 通过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291840"/>
                <a:gridCol w="2194560"/>
                <a:gridCol w="4937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949E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949E"/>
                          </a:solidFill>
                        </a:rPr>
                        <a:t>场景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949E"/>
                          </a:solidFill>
                        </a:rPr>
                        <a:t>象限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949E"/>
                          </a:solidFill>
                        </a:rPr>
                        <a:t>结果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鸿蒙 HAP 编译+签名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非静态·客户端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FB950"/>
                          </a:solidFill>
                        </a:rPr>
                        <a:t>✅ 29s 构建，sign/verify 双过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鸿蒙 ArkTS 运行调试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非静态·客户端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85149"/>
                          </a:solidFill>
                        </a:rPr>
                        <a:t>❌ 无部署通道（预期内）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Java 后端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非静态·后端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FB950"/>
                          </a:solidFill>
                        </a:rPr>
                        <a:t>✅ JDK26+Maven，测试 3/3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前端 SPA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静态·前端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FB950"/>
                          </a:solidFill>
                        </a:rPr>
                        <a:t>✅ Vite❌ → webpack/WASM 通过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静态站点+本地预览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静态·前端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FB95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Node HTTP API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非静态·后端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FB95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Python Web + pip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非静态·后端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FB950"/>
                          </a:solidFill>
                        </a:rPr>
                        <a:t>✅ Flask 实测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C/C++ 编译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非静态·系统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FB950"/>
                          </a:solidFill>
                        </a:rPr>
                        <a:t>✅ clang15/CMake/Ninja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</a:rPr>
              <a:t>鸿蒙线：编译签名全通，运行调试断路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FB950"/>
                </a:solidFill>
              </a:rPr>
              <a:t>✅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</a:rPr>
              <a:t>HAP 编译：改码增量 29s（hvigor 设备直驱，33 tasks，16 执行）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087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FB950"/>
                </a:solidFill>
              </a:rPr>
              <a:t>✅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</a:rPr>
              <a:t>签名+校验：hap-sign-tool sign / verify successed，产物 102 KB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8620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85149"/>
                </a:solidFill>
              </a:rPr>
              <a:t>❌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</a:rPr>
              <a:t>运行调试：hdc list targets = [Empty]，沙箱无 USB、无模拟器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37490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388620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D29E08"/>
                </a:solidFill>
              </a:rPr>
              <a:t>⚠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</a:rPr>
              <a:t>解法：外接第二台鸿蒙设备无线调试，或打通本机 hdcd 监听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49E"/>
                </a:solidFill>
              </a:rPr>
              <a:t>"写→编→签"齐备，"装→跑→调"断在最后一环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</a:rPr>
              <a:t>Java 线：HarmonyBrew + 真实项目验证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FB950"/>
                </a:solidFill>
              </a:rPr>
              <a:t>✅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</a:rPr>
              <a:t>渠道：HarmonyBrew（bottle 均为 OHOS 原生构建，可直接执行）；openjdk 26.0.2.1 + 56 依赖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087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FB950"/>
                </a:solidFill>
              </a:rPr>
              <a:t>✅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</a:rPr>
              <a:t>Maven 3.9.16 brew 安装；~/.m2 华为云镜像无下载瓶颈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8620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FB950"/>
                </a:solidFill>
              </a:rPr>
              <a:t>✅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</a:rPr>
              <a:t>工程 order-service：mvn package 21.5s，JUnit5 测试 3/3 通过，产出可执行 jar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37490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388620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FB950"/>
                </a:solidFill>
              </a:rPr>
              <a:t>✅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</a:rPr>
              <a:t>运行 java -jar → "created ORD-1, total=1"（主线与子 agent 双复核一致）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9E"/>
                </a:solidFill>
              </a:rPr>
              <a:t>坑：沙箱 ~ 双根（/data/storage/el2/... vs /storage/Users/...），JAVA_HOME/PATH 需绝对路径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</a:rPr>
              <a:t>前端线：Vite 的墙与两条退路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85149"/>
                </a:solidFill>
              </a:rPr>
              <a:t>❌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</a:rPr>
              <a:t>Vite / esbuild / rollup@4 native / SWC / tailwind-oxide 全线不可用（npm 报 Unsupported platform: ohos arm64 LE 只是表层）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087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FB950"/>
                </a:solidFill>
              </a:rPr>
              <a:t>✅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</a:rPr>
              <a:t>退路A 纯 JS：webpack5+ts-loader+dart-sass 构建 React+TSX+SCSS+Tailwind，10.4s → 260KB bundle，HTTP 200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8620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FB950"/>
                </a:solidFill>
              </a:rPr>
              <a:t>✅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</a:rPr>
              <a:t>退路B WASM：rollup alias→@rollup/wasm-node+plugin-typescript，15.5s → 1.35MB，HTTP 200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37490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388620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D29E08"/>
                </a:solidFill>
              </a:rPr>
              <a:t>⚠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</a:rPr>
              <a:t>WASM 代价：慢 1.5–2.5×、RSS 峰值 481MB；esbuild 无官方 wasm 回退（vite#13208 NOT_PLANNED）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</a:rPr>
              <a:t>根因：不是签名，是 ELF section header 校验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70000"/>
              </a:lnSpc>
              <a:buSzPct val="100000"/>
              <a:buChar char="▪"/>
            </a:pPr>
            <a:r>
              <a:rPr lang="en-US" sz="1800" dirty="0">
                <a:solidFill>
                  <a:srgbClr val="E6EDF3"/>
                </a:solidFill>
              </a:rPr>
              <a:t>假说「SELinux 来源标签」被推翻：自编 ELF 与其 cat 副本标签相同（hmdfs:s0）都能执行；chmod/硬链接均非变量</a:t>
            </a:r>
            <a:endParaRPr lang="en-US" sz="1800" dirty="0"/>
          </a:p>
          <a:p>
            <a:pPr marL="342900" indent="-342900">
              <a:lnSpc>
                <a:spcPct val="170000"/>
              </a:lnSpc>
              <a:buSzPct val="100000"/>
              <a:buChar char="▪"/>
            </a:pPr>
            <a:r>
              <a:rPr lang="en-US" sz="1800" dirty="0">
                <a:solidFill>
                  <a:srgbClr val="E6EDF3"/>
                </a:solidFill>
              </a:rPr>
              <a:t>决定性实验：把正常可跑 ELF 的 shdr 偏移字段写坏 8 字节 → 立刻 permission denied（rc=126）</a:t>
            </a:r>
            <a:endParaRPr lang="en-US" sz="1800" dirty="0"/>
          </a:p>
          <a:p>
            <a:pPr marL="342900" indent="-342900">
              <a:lnSpc>
                <a:spcPct val="170000"/>
              </a:lnSpc>
              <a:buSzPct val="100000"/>
              <a:buChar char="▪"/>
            </a:pPr>
            <a:r>
              <a:rPr lang="en-US" sz="1800" dirty="0">
                <a:solidFill>
                  <a:srgbClr val="E6EDF3"/>
                </a:solidFill>
              </a:rPr>
              <a:t>鸿蒙 loader 严格校验 section header；Go 二进制（file 报 bad shdr）与 Rust native 因此被拒，Linux loader 对此宽容</a:t>
            </a:r>
            <a:endParaRPr lang="en-US" sz="1800" dirty="0"/>
          </a:p>
          <a:p>
            <a:pPr marL="342900" indent="-342900">
              <a:lnSpc>
                <a:spcPct val="170000"/>
              </a:lnSpc>
              <a:buSzPct val="100000"/>
              <a:buChar char="▪"/>
            </a:pPr>
            <a:r>
              <a:rPr lang="en-US" sz="1800" dirty="0">
                <a:solidFill>
                  <a:srgbClr val="E6EDF3"/>
                </a:solidFill>
              </a:rPr>
              <a:t>HNP / HarmonyBrew bottle 为 OHOS 原生构建 → 不受影响</a:t>
            </a:r>
            <a:endParaRPr lang="en-US" sz="1800" dirty="0"/>
          </a:p>
          <a:p>
            <a:pPr marL="342900" indent="-342900">
              <a:lnSpc>
                <a:spcPct val="170000"/>
              </a:lnSpc>
              <a:buSzPct val="100000"/>
              <a:buChar char="▪"/>
            </a:pPr>
            <a:r>
              <a:rPr lang="en-US" sz="1800" dirty="0">
                <a:solidFill>
                  <a:srgbClr val="E6EDF3"/>
                </a:solidFill>
              </a:rPr>
              <a:t>一次嗅探给你现象，一组对照实验给你根因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</a:rPr>
              <a:t>性能观测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74320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949E"/>
                          </a:solidFill>
                        </a:rPr>
                        <a:t>项目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949E"/>
                          </a:solidFill>
                        </a:rPr>
                        <a:t>耗时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949E"/>
                          </a:solidFill>
                        </a:rPr>
                        <a:t>备注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鸿蒙 HAP 增量构建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29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33 tasks，16 执行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Java mvn package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21.5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含 JUnit 执行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webpack 纯 JS 构建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10.4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260KB 产物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Rollup WASM 构建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15.5–25.8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方差大，RSS 峰值 481MB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npm 安装 314 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15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须 --ignore-scripts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Flask / Redis 启动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4 s / 1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服务可用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npm ping（境外 registry）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PONG 1156 ms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</a:rPr>
                        <a:t>npmmirror 更快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</a:rPr>
              <a:t>摩擦点清单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70000"/>
              </a:lnSpc>
              <a:buSzPct val="100000"/>
              <a:buChar char="▪"/>
            </a:pPr>
            <a:r>
              <a:rPr lang="en-US" sz="1800" dirty="0">
                <a:solidFill>
                  <a:srgbClr val="E6EDF3"/>
                </a:solidFill>
              </a:rPr>
              <a:t>外来原生二进制被 shdr 校验拦截 → 前端锁定纯 JS / WASM 栈</a:t>
            </a:r>
            <a:endParaRPr lang="en-US" sz="1800" dirty="0"/>
          </a:p>
          <a:p>
            <a:pPr marL="342900" indent="-342900">
              <a:lnSpc>
                <a:spcPct val="170000"/>
              </a:lnSpc>
              <a:buSzPct val="100000"/>
              <a:buChar char="▪"/>
            </a:pPr>
            <a:r>
              <a:rPr lang="en-US" sz="1800" dirty="0">
                <a:solidFill>
                  <a:srgbClr val="E6EDF3"/>
                </a:solidFill>
              </a:rPr>
              <a:t>无部署通道 → 客户端闭环断在最后一环（Top8 唯一保留失败项）</a:t>
            </a:r>
            <a:endParaRPr lang="en-US" sz="1800" dirty="0"/>
          </a:p>
          <a:p>
            <a:pPr marL="342900" indent="-342900">
              <a:lnSpc>
                <a:spcPct val="170000"/>
              </a:lnSpc>
              <a:buSzPct val="100000"/>
              <a:buChar char="▪"/>
            </a:pPr>
            <a:r>
              <a:rPr lang="en-US" sz="1800" dirty="0">
                <a:solidFill>
                  <a:srgbClr val="E6EDF3"/>
                </a:solidFill>
              </a:rPr>
              <a:t>系统预置无 JVM → 依赖 HarmonyBrew 渠道（装后体验正常）</a:t>
            </a:r>
            <a:endParaRPr lang="en-US" sz="1800" dirty="0"/>
          </a:p>
          <a:p>
            <a:pPr marL="342900" indent="-342900">
              <a:lnSpc>
                <a:spcPct val="170000"/>
              </a:lnSpc>
              <a:buSzPct val="100000"/>
              <a:buChar char="▪"/>
            </a:pPr>
            <a:r>
              <a:rPr lang="en-US" sz="1800" dirty="0">
                <a:solidFill>
                  <a:srgbClr val="E6EDF3"/>
                </a:solidFill>
              </a:rPr>
              <a:t>沙箱 ~ 双根路径；hmdfs 属主触发 git dubious ownership（safe.directory）；/tmp 只读</a:t>
            </a:r>
            <a:endParaRPr lang="en-US" sz="1800" dirty="0"/>
          </a:p>
          <a:p>
            <a:pPr marL="342900" indent="-342900">
              <a:lnSpc>
                <a:spcPct val="170000"/>
              </a:lnSpc>
              <a:buSzPct val="100000"/>
              <a:buChar char="▪"/>
            </a:pPr>
            <a:r>
              <a:rPr lang="en-US" sz="1800" dirty="0">
                <a:solidFill>
                  <a:srgbClr val="E6EDF3"/>
                </a:solidFill>
              </a:rPr>
              <a:t>Electron node 的 stderr "thread qos" 噪声；process.platform=ohos 致 optional deps 缺装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</a:rPr>
              <a:t>结论与建议栈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FB950"/>
                </a:solidFill>
              </a:rPr>
              <a:t>✅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</a:rPr>
              <a:t>可投产：Node / Python / Java 后端、C/C++、Redis/SQLite、静态站点、纯JS/WASM 前端、HAP 编译+签名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087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85149"/>
                </a:solidFill>
              </a:rPr>
              <a:t>❌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</a:rPr>
              <a:t>待解：运行调试通道（外接设备 / hdcd 监听打通后此环补全）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8620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8A6FF"/>
                </a:solidFill>
              </a:rPr>
              <a:t>★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</a:rPr>
              <a:t>建议栈：HNP 系统工具 + HarmonyBrew 用户软件 + webpack 为主/rollup-wasm 备选 + hvigor 直驱；真机验证放外部设备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37490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388620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D29E08"/>
                </a:solidFill>
              </a:rPr>
              <a:t>¶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</a:rPr>
              <a:t>原则：完备度→有无问题→性能/易用性；判"不可用"前必须穷举渠道 + 项目级实测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依据：dev-top8-lab/BENCH.md（git 提交 60906f0）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2026-09-28T01:23:36Z</dcterms:created>
  <dcterms:modified xsi:type="dcterms:W3CDTF">2026-09-28T01:23:36Z</dcterms:modified>
</cp:coreProperties>
</file>